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ppy" initials="H" lastIdx="1" clrIdx="0">
    <p:extLst>
      <p:ext uri="{19B8F6BF-5375-455C-9EA6-DF929625EA0E}">
        <p15:presenceInfo xmlns:p15="http://schemas.microsoft.com/office/powerpoint/2012/main" userId="Happ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47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JavaScript Event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 ·  Web APIs  ·  Callback Queue  ·  Job Queue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66960" y="822960"/>
            <a:ext cx="1645920" cy="164592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8229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JS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We Need an Event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is </a:t>
            </a: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and synchronous</a:t>
            </a: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executes one task at a time,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46304" cy="146304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0720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chopping vegetables (main script running)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93008"/>
            <a:ext cx="146304" cy="146304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7413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microwave dings — pasta is done (async task completes)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059936"/>
            <a:ext cx="146304" cy="146304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4106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stop chopping — you finish, then handle the pasta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626864"/>
            <a:ext cx="146304" cy="146304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07992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(the Event Loop) hands off the pasta at the right time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Event Loop...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242316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JS waited (blocked) for every fetch() or setTimeout() to finish before moving on, the entire UI would freeze until each async task completed.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3977640"/>
            <a:ext cx="4480560" cy="1691640"/>
          </a:xfrm>
          <a:prstGeom prst="roundRect">
            <a:avLst>
              <a:gd name="adj" fmla="val 5405"/>
            </a:avLst>
          </a:prstGeom>
          <a:solidFill>
            <a:srgbClr val="25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41605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lets async work happen in the background, then rejoins the main thread only when it's ready — keeping JS non-blocking.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Call Stack: LIFO 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call is pushed onto the call stack; when it finishes, it's popped off. Last In, First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5212080"/>
            <a:ext cx="2926080" cy="640080"/>
          </a:xfrm>
          <a:prstGeom prst="rect">
            <a:avLst/>
          </a:prstGeom>
          <a:solidFill>
            <a:srgbClr val="F0D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212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434840"/>
            <a:ext cx="2926080" cy="640080"/>
          </a:xfrm>
          <a:prstGeom prst="rect">
            <a:avLst/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434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657600"/>
            <a:ext cx="2926080" cy="640080"/>
          </a:xfrm>
          <a:prstGeom prst="rect">
            <a:avLst/>
          </a:prstGeom>
          <a:solidFill>
            <a:srgbClr val="252A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5486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pushed first, popped last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86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24028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f3() is called → pushed to stack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37760" y="3063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301752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f3, it calls f2() → f2 pushed (f3 still waiting)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37760" y="3840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7947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f2, it calls f1() → f1 pushed (f2, f3 still waiting)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37760" y="46177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45720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finishes → popped. Then f2 finishes → popped. Then f3 → popped.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ASYNC COMES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Async Triggers in JavaScript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240280"/>
            <a:ext cx="731520" cy="73152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setTimeout, setInterval — run code after a delay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7033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and other API calls — wait for a response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46920" y="2240280"/>
            <a:ext cx="731520" cy="731520"/>
          </a:xfrm>
          <a:prstGeom prst="ellipse">
            <a:avLst/>
          </a:prstGeom>
          <a:solidFill>
            <a:srgbClr val="25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37033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handlers &amp; other DOM events — run on user 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functions are handled by Web APIs (browser), not the JS engine's call stack — so they never block execution.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Pieces of the Puzzle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190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7190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functions, one at a time, LIFO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5877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25877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Browser-provided: setTimeout, fetch, DOM events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4564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Queue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34564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finished async callbacks (FIFO), e.g. setTimeout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3251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Microtask Queue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43251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Promise handler callbacks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51937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51937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stack is empty, then pulls the next task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2A05FB-6900-A477-089C-CE42E4E0CB06}"/>
              </a:ext>
            </a:extLst>
          </p:cNvPr>
          <p:cNvSpPr/>
          <p:nvPr/>
        </p:nvSpPr>
        <p:spPr>
          <a:xfrm>
            <a:off x="351692" y="182880"/>
            <a:ext cx="2954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 IN DETAILS</a:t>
            </a:r>
            <a:endParaRPr lang="en-US" sz="1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5C1DC8-B49B-449E-81D3-4B052F09472B}"/>
              </a:ext>
            </a:extLst>
          </p:cNvPr>
          <p:cNvGrpSpPr/>
          <p:nvPr/>
        </p:nvGrpSpPr>
        <p:grpSpPr>
          <a:xfrm>
            <a:off x="4093698" y="1590261"/>
            <a:ext cx="1300751" cy="2446351"/>
            <a:chOff x="4093698" y="1590261"/>
            <a:chExt cx="1300751" cy="24463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90A9047-CE11-27E2-A0E3-FA6B2BE801E4}"/>
                </a:ext>
              </a:extLst>
            </p:cNvPr>
            <p:cNvSpPr/>
            <p:nvPr/>
          </p:nvSpPr>
          <p:spPr>
            <a:xfrm>
              <a:off x="4093698" y="1590261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519A2D-D166-D465-60AA-D52E096E5C61}"/>
                </a:ext>
              </a:extLst>
            </p:cNvPr>
            <p:cNvSpPr/>
            <p:nvPr/>
          </p:nvSpPr>
          <p:spPr>
            <a:xfrm>
              <a:off x="4093698" y="2449002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1F17FB7-4BE4-E3B2-87F8-39B2F88476FD}"/>
                </a:ext>
              </a:extLst>
            </p:cNvPr>
            <p:cNvSpPr/>
            <p:nvPr/>
          </p:nvSpPr>
          <p:spPr>
            <a:xfrm>
              <a:off x="4093698" y="3307743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Consolas" panose="020B0609020204030204" pitchFamily="49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CF244F6-0F27-C77F-86F2-23A583D853B0}"/>
              </a:ext>
            </a:extLst>
          </p:cNvPr>
          <p:cNvSpPr txBox="1"/>
          <p:nvPr/>
        </p:nvSpPr>
        <p:spPr>
          <a:xfrm>
            <a:off x="4197609" y="4190185"/>
            <a:ext cx="109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Call Stack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9864BD-8CCF-53D4-526B-08B17A6D2E3D}"/>
              </a:ext>
            </a:extLst>
          </p:cNvPr>
          <p:cNvSpPr/>
          <p:nvPr/>
        </p:nvSpPr>
        <p:spPr>
          <a:xfrm>
            <a:off x="7005711" y="1412682"/>
            <a:ext cx="3635784" cy="26239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FE59C-B0F0-675C-D847-18D104835147}"/>
              </a:ext>
            </a:extLst>
          </p:cNvPr>
          <p:cNvSpPr txBox="1"/>
          <p:nvPr/>
        </p:nvSpPr>
        <p:spPr>
          <a:xfrm>
            <a:off x="8229518" y="4149647"/>
            <a:ext cx="1443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Browser APIs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553E87-C5F5-3118-AB3E-30D222648E9D}"/>
              </a:ext>
            </a:extLst>
          </p:cNvPr>
          <p:cNvSpPr/>
          <p:nvPr/>
        </p:nvSpPr>
        <p:spPr>
          <a:xfrm>
            <a:off x="3981157" y="5208104"/>
            <a:ext cx="6660338" cy="8918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6C2F9-D4BB-01B8-1164-844197B12116}"/>
              </a:ext>
            </a:extLst>
          </p:cNvPr>
          <p:cNvSpPr txBox="1"/>
          <p:nvPr/>
        </p:nvSpPr>
        <p:spPr>
          <a:xfrm>
            <a:off x="5719235" y="6124335"/>
            <a:ext cx="405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Callback Queue/ Task Queue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C67881-6835-F5FA-723B-85D508AF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47" y="3367891"/>
            <a:ext cx="962025" cy="1000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AEF052-6363-24C0-D2C9-29A953E8CAA4}"/>
              </a:ext>
            </a:extLst>
          </p:cNvPr>
          <p:cNvSpPr txBox="1"/>
          <p:nvPr/>
        </p:nvSpPr>
        <p:spPr>
          <a:xfrm>
            <a:off x="5665806" y="4374851"/>
            <a:ext cx="1235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Event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78B99-9E8A-0311-3CAD-F4D298375666}"/>
              </a:ext>
            </a:extLst>
          </p:cNvPr>
          <p:cNvSpPr txBox="1"/>
          <p:nvPr/>
        </p:nvSpPr>
        <p:spPr>
          <a:xfrm>
            <a:off x="3931921" y="6364546"/>
            <a:ext cx="614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Temporary storage for keeping the callback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E1E5D2-960E-794E-449E-163E53242738}"/>
              </a:ext>
            </a:extLst>
          </p:cNvPr>
          <p:cNvSpPr txBox="1"/>
          <p:nvPr/>
        </p:nvSpPr>
        <p:spPr>
          <a:xfrm>
            <a:off x="7005711" y="4374851"/>
            <a:ext cx="414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setTimeout</a:t>
            </a:r>
            <a:r>
              <a:rPr lang="en-US" dirty="0">
                <a:solidFill>
                  <a:schemeClr val="bg1"/>
                </a:solidFill>
              </a:rPr>
              <a:t>, Fetch API calls, Event callback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6BBD7E-AB27-18A1-A3CE-618FCE535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28" y="1113266"/>
            <a:ext cx="2333625" cy="742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E34F73-4159-2923-FAAE-9E000753C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30" y="2082417"/>
            <a:ext cx="2419350" cy="7715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32E3DB7-B6E3-15D5-F084-A5DF5B721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28" y="3064088"/>
            <a:ext cx="2124075" cy="15716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D1D2274-E1D3-910C-26B1-AFDC01EE8B72}"/>
              </a:ext>
            </a:extLst>
          </p:cNvPr>
          <p:cNvSpPr txBox="1"/>
          <p:nvPr/>
        </p:nvSpPr>
        <p:spPr>
          <a:xfrm>
            <a:off x="375628" y="4943533"/>
            <a:ext cx="272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Call back function =&gt; that pass as argument or the parameter to another function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627FA5-0FAC-422A-9082-8A074FEBC81E}"/>
              </a:ext>
            </a:extLst>
          </p:cNvPr>
          <p:cNvCxnSpPr/>
          <p:nvPr/>
        </p:nvCxnSpPr>
        <p:spPr>
          <a:xfrm flipV="1">
            <a:off x="2208628" y="1113266"/>
            <a:ext cx="1561514" cy="25589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6FF843-473A-23FD-0458-8D9AA711A40A}"/>
              </a:ext>
            </a:extLst>
          </p:cNvPr>
          <p:cNvSpPr txBox="1"/>
          <p:nvPr/>
        </p:nvSpPr>
        <p:spPr>
          <a:xfrm>
            <a:off x="3770142" y="880311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Call back function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E10988-8025-95B1-6943-A3FB1D61115D}"/>
              </a:ext>
            </a:extLst>
          </p:cNvPr>
          <p:cNvSpPr txBox="1"/>
          <p:nvPr/>
        </p:nvSpPr>
        <p:spPr>
          <a:xfrm>
            <a:off x="4312537" y="348751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main()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C99056-CDA5-D966-A420-F759C09B3862}"/>
              </a:ext>
            </a:extLst>
          </p:cNvPr>
          <p:cNvSpPr/>
          <p:nvPr/>
        </p:nvSpPr>
        <p:spPr>
          <a:xfrm>
            <a:off x="7005711" y="69856"/>
            <a:ext cx="4755968" cy="11501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69D76C-2C9B-685F-6842-913CEF260786}"/>
              </a:ext>
            </a:extLst>
          </p:cNvPr>
          <p:cNvSpPr txBox="1"/>
          <p:nvPr/>
        </p:nvSpPr>
        <p:spPr>
          <a:xfrm>
            <a:off x="6030764" y="408392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20157D-E17F-FC20-9D3A-9EB5E94805D3}"/>
              </a:ext>
            </a:extLst>
          </p:cNvPr>
          <p:cNvSpPr txBox="1"/>
          <p:nvPr/>
        </p:nvSpPr>
        <p:spPr>
          <a:xfrm>
            <a:off x="7254571" y="9282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5C94C7-B77D-8000-FAF4-F8A3616A869B}"/>
              </a:ext>
            </a:extLst>
          </p:cNvPr>
          <p:cNvSpPr txBox="1"/>
          <p:nvPr/>
        </p:nvSpPr>
        <p:spPr>
          <a:xfrm>
            <a:off x="7748141" y="2499477"/>
            <a:ext cx="22060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</a:rPr>
              <a:t>Web API =&gt; f1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6DAF423-DDD8-D1C3-DA63-9DF6BA573EA2}"/>
              </a:ext>
            </a:extLst>
          </p:cNvPr>
          <p:cNvSpPr/>
          <p:nvPr/>
        </p:nvSpPr>
        <p:spPr>
          <a:xfrm>
            <a:off x="4312537" y="5267739"/>
            <a:ext cx="1353269" cy="7991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6C5990-0DC8-6D58-6256-E53E877A3303}"/>
              </a:ext>
            </a:extLst>
          </p:cNvPr>
          <p:cNvSpPr txBox="1"/>
          <p:nvPr/>
        </p:nvSpPr>
        <p:spPr>
          <a:xfrm>
            <a:off x="7238688" y="44661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hello f2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4C12ED-A5D6-879E-7580-6BEECEA0024E}"/>
              </a:ext>
            </a:extLst>
          </p:cNvPr>
          <p:cNvSpPr txBox="1"/>
          <p:nvPr/>
        </p:nvSpPr>
        <p:spPr>
          <a:xfrm>
            <a:off x="4398465" y="352992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f1()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47D986-B6D0-64ED-BC99-961FD53DA88C}"/>
              </a:ext>
            </a:extLst>
          </p:cNvPr>
          <p:cNvSpPr txBox="1"/>
          <p:nvPr/>
        </p:nvSpPr>
        <p:spPr>
          <a:xfrm>
            <a:off x="7229727" y="76037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hello f1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995064F-472C-5570-1D57-1F44116A1F7D}"/>
              </a:ext>
            </a:extLst>
          </p:cNvPr>
          <p:cNvSpPr/>
          <p:nvPr/>
        </p:nvSpPr>
        <p:spPr>
          <a:xfrm>
            <a:off x="1030028" y="4368016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6 L 0.10977 -0.1537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2" y="-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77 -0.1537 L 0.08724 -0.11828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3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77 -0.1537 L 0.00938 -0.09629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26" y="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38 -0.09629 L 0.13255 -0.29652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59" y="-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3" grpId="0"/>
      <p:bldP spid="14" grpId="0"/>
      <p:bldP spid="15" grpId="0"/>
      <p:bldP spid="21" grpId="0"/>
      <p:bldP spid="24" grpId="0"/>
      <p:bldP spid="26" grpId="0"/>
      <p:bldP spid="26" grpId="1"/>
      <p:bldP spid="28" grpId="0" animBg="1"/>
      <p:bldP spid="29" grpId="0"/>
      <p:bldP spid="30" grpId="0"/>
      <p:bldP spid="31" grpId="0"/>
      <p:bldP spid="31" grpId="1"/>
      <p:bldP spid="32" grpId="0" animBg="1"/>
      <p:bldP spid="32" grpId="1" animBg="1"/>
      <p:bldP spid="33" grpId="0"/>
      <p:bldP spid="34" grpId="0"/>
      <p:bldP spid="34" grpId="1"/>
      <p:bldP spid="35" grpId="0"/>
      <p:bldP spid="36" grpId="0" animBg="1"/>
      <p:bldP spid="36" grpId="1" animBg="1"/>
      <p:bldP spid="36" grpId="2" animBg="1"/>
      <p:bldP spid="36" grpId="3" animBg="1"/>
      <p:bldP spid="36" grpId="4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EA07BF-F688-2F3A-C346-EEF894666BC2}"/>
              </a:ext>
            </a:extLst>
          </p:cNvPr>
          <p:cNvGrpSpPr/>
          <p:nvPr/>
        </p:nvGrpSpPr>
        <p:grpSpPr>
          <a:xfrm>
            <a:off x="4625005" y="661795"/>
            <a:ext cx="1300751" cy="2446351"/>
            <a:chOff x="4093698" y="1590261"/>
            <a:chExt cx="1300751" cy="24463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1990FE-56C5-D9A4-1153-2E43D7B7DD35}"/>
                </a:ext>
              </a:extLst>
            </p:cNvPr>
            <p:cNvSpPr/>
            <p:nvPr/>
          </p:nvSpPr>
          <p:spPr>
            <a:xfrm>
              <a:off x="4093698" y="1590261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1AA9BE-9864-4F68-9D5B-022640247FF0}"/>
                </a:ext>
              </a:extLst>
            </p:cNvPr>
            <p:cNvSpPr/>
            <p:nvPr/>
          </p:nvSpPr>
          <p:spPr>
            <a:xfrm>
              <a:off x="4093698" y="2449002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3D8AA38-3902-9174-4572-4D7BBE26919B}"/>
                </a:ext>
              </a:extLst>
            </p:cNvPr>
            <p:cNvSpPr/>
            <p:nvPr/>
          </p:nvSpPr>
          <p:spPr>
            <a:xfrm>
              <a:off x="4093698" y="3307743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Consolas" panose="020B0609020204030204" pitchFamily="49" charset="0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0F5E90-483D-79B6-9CCB-36921BB3CA0B}"/>
              </a:ext>
            </a:extLst>
          </p:cNvPr>
          <p:cNvSpPr/>
          <p:nvPr/>
        </p:nvSpPr>
        <p:spPr>
          <a:xfrm>
            <a:off x="8187394" y="484216"/>
            <a:ext cx="3635784" cy="26239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E8711A-5790-6F8E-A940-99C5D7DB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562" y="2108021"/>
            <a:ext cx="962025" cy="10001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E889ED5-52E8-AE8E-D971-D6639C58AAB8}"/>
              </a:ext>
            </a:extLst>
          </p:cNvPr>
          <p:cNvSpPr/>
          <p:nvPr/>
        </p:nvSpPr>
        <p:spPr>
          <a:xfrm>
            <a:off x="4857225" y="3610405"/>
            <a:ext cx="6660338" cy="7072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DCA8B4-2542-18E0-7B1A-4B1004A63BB5}"/>
              </a:ext>
            </a:extLst>
          </p:cNvPr>
          <p:cNvSpPr/>
          <p:nvPr/>
        </p:nvSpPr>
        <p:spPr>
          <a:xfrm>
            <a:off x="4865788" y="4736178"/>
            <a:ext cx="6660338" cy="7072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First Priority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F5718-156F-3C34-327C-86E87E2B1577}"/>
              </a:ext>
            </a:extLst>
          </p:cNvPr>
          <p:cNvSpPr txBox="1"/>
          <p:nvPr/>
        </p:nvSpPr>
        <p:spPr>
          <a:xfrm>
            <a:off x="4728916" y="3157382"/>
            <a:ext cx="109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Call Stack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E53CBD-7B4E-C77C-0DDD-47D8025025D8}"/>
              </a:ext>
            </a:extLst>
          </p:cNvPr>
          <p:cNvSpPr txBox="1"/>
          <p:nvPr/>
        </p:nvSpPr>
        <p:spPr>
          <a:xfrm>
            <a:off x="6438744" y="3171248"/>
            <a:ext cx="1235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Event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00E97-A53C-CDBE-88BD-E95C16FCDBA2}"/>
              </a:ext>
            </a:extLst>
          </p:cNvPr>
          <p:cNvSpPr txBox="1"/>
          <p:nvPr/>
        </p:nvSpPr>
        <p:spPr>
          <a:xfrm>
            <a:off x="9411201" y="3221181"/>
            <a:ext cx="1443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Browser APIs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0A38D3-2EA8-4FC2-114B-E0F9CA60EC7F}"/>
              </a:ext>
            </a:extLst>
          </p:cNvPr>
          <p:cNvSpPr txBox="1"/>
          <p:nvPr/>
        </p:nvSpPr>
        <p:spPr>
          <a:xfrm>
            <a:off x="6844647" y="4337502"/>
            <a:ext cx="405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Callback Queue/ Task Queue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D461F3-C5AF-2878-FA99-A7270508821E}"/>
              </a:ext>
            </a:extLst>
          </p:cNvPr>
          <p:cNvSpPr txBox="1"/>
          <p:nvPr/>
        </p:nvSpPr>
        <p:spPr>
          <a:xfrm>
            <a:off x="7015519" y="5493944"/>
            <a:ext cx="405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Job Queue / Micro Tasks (Promise)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497F4F-BEED-D3C1-69D9-2185D25B1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10" y="826702"/>
            <a:ext cx="2552700" cy="15525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83D7FA-0961-8EA9-7A4F-9C8A31512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10" y="2700851"/>
            <a:ext cx="3943350" cy="20574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67E9F6A-9110-7B4A-7799-7EC1E96B56EE}"/>
              </a:ext>
            </a:extLst>
          </p:cNvPr>
          <p:cNvSpPr/>
          <p:nvPr/>
        </p:nvSpPr>
        <p:spPr>
          <a:xfrm>
            <a:off x="273606" y="5079826"/>
            <a:ext cx="4455310" cy="15525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E82889-2863-7C5B-783F-87AAD190DFC2}"/>
              </a:ext>
            </a:extLst>
          </p:cNvPr>
          <p:cNvSpPr txBox="1"/>
          <p:nvPr/>
        </p:nvSpPr>
        <p:spPr>
          <a:xfrm>
            <a:off x="336967" y="5186466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9A0C20-F2E2-985E-E0C6-4BED80BF031A}"/>
              </a:ext>
            </a:extLst>
          </p:cNvPr>
          <p:cNvSpPr txBox="1"/>
          <p:nvPr/>
        </p:nvSpPr>
        <p:spPr>
          <a:xfrm>
            <a:off x="336967" y="5501441"/>
            <a:ext cx="104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 f2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DC70E5-D82D-D5E2-68A4-3532A245A41B}"/>
              </a:ext>
            </a:extLst>
          </p:cNvPr>
          <p:cNvSpPr txBox="1"/>
          <p:nvPr/>
        </p:nvSpPr>
        <p:spPr>
          <a:xfrm>
            <a:off x="336966" y="5864207"/>
            <a:ext cx="30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am a promise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A1FC64-8174-EDB8-53A5-3BCBB27DC4E7}"/>
              </a:ext>
            </a:extLst>
          </p:cNvPr>
          <p:cNvSpPr txBox="1"/>
          <p:nvPr/>
        </p:nvSpPr>
        <p:spPr>
          <a:xfrm>
            <a:off x="336967" y="6226973"/>
            <a:ext cx="104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 f1</a:t>
            </a:r>
          </a:p>
        </p:txBody>
      </p:sp>
    </p:spTree>
    <p:extLst>
      <p:ext uri="{BB962C8B-B14F-4D97-AF65-F5344CB8AC3E}">
        <p14:creationId xmlns:p14="http://schemas.microsoft.com/office/powerpoint/2010/main" val="53937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27F54F-DF3A-8D21-F1D3-0B5543414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38" y="352648"/>
            <a:ext cx="3121416" cy="29079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AF756A-56F0-057C-08AA-9B94C8A7887E}"/>
              </a:ext>
            </a:extLst>
          </p:cNvPr>
          <p:cNvSpPr/>
          <p:nvPr/>
        </p:nvSpPr>
        <p:spPr>
          <a:xfrm>
            <a:off x="273606" y="3597367"/>
            <a:ext cx="4045176" cy="29079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Main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F2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I am promise 1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I am promise 2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F3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F1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9E9E86-CB28-B023-E865-B0DC854A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698" y="420753"/>
            <a:ext cx="6717763" cy="440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13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PROMISES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Job Queue (Microtask Queue)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handler functions </a:t>
            </a: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go to the Callback Queue — they get their own line: the </a:t>
            </a: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(a.k.a. Microtask Queue).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51760"/>
            <a:ext cx="109728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249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non-blocking rule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14800" y="272491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executor doesn't halt the call stack — synchronous code keeps running first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109728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136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queue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4800" y="39136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handlers wait in the Job Queue, not the Callback Queue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29200"/>
            <a:ext cx="109728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0235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114800" y="510235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always checks the Job Queue before the Callback Queue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Event Loop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code always runs first, in strict LIFO order.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tasks (timers, fetch, events) never enter the call stack directly — their callbacks queue up instead.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0358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/ event callbacks → Callback Queue (FIFO). Promise handlers → Job Queue (FIFO).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7216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acts only when the call stack is empty.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0DB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4074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queues have items: the Job Queue always goes first.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0DB4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50932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Job Queue has multiple items, ALL of them run before the Event Loop touches the Callback Queue again.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Timers + Promises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f1() { console.log("f1");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f2() { console.log("f2"); 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main()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console.log("main");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setTimeout(f1, 0);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Promise.resolve("I am a promise")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.then(msg =&gt; console.log(msg));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f2();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856232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7739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logs "main" (sync)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2459736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2459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setTimeout(f1, 0) → f1 → Callback Queue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3063240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98094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resolves → .then handler → Job Queue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3666744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3666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5844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f2() runs (still sync) → logs "f2"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4270248"/>
            <a:ext cx="292608" cy="292608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8795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empty → Job Queue wins → logs "I am a promise"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9320" y="4873752"/>
            <a:ext cx="292608" cy="292608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4873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7914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empty → Callback Queue → logs "f1"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553212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0DB4F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55321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main → f2 → "I am a promise" → f1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TRICKIEST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Multiple Items in Both Queues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Callback Queue AND the Job Queue both have several items waiting, the Event Loop drains the entire Job Queue before touching the Callback Queue again — even across multiple turns.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7F7F5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(drained fully first)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91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"...f3 really"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"...after promise"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517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7F7F5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Queue (handled after)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329184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25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291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f3() — resolves first (timer order)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406908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252A52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069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f1() — resolves second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order: main → f2 → both promise messages → f3 → f1 (setTimeout order can differ from write order once delays are involved)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Event Loop — One-Page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oundRect">
            <a:avLst/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737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code. LIFO. Runs first, always.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1064240" cy="7772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786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57860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handles timers, fetch, DOM events off-thread.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11064240" cy="777240"/>
          </a:xfrm>
          <a:prstGeom prst="roundRect">
            <a:avLst/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19856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Queue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419856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FIFO. Holds setTimeout / event callbacks.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11064240" cy="7772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61104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261104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FIFO. Holds Promise .then handlers. Higher priority.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777240"/>
          </a:xfrm>
          <a:prstGeom prst="roundRect">
            <a:avLst/>
          </a:prstGeom>
          <a:solidFill>
            <a:srgbClr val="F7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0235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510235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empty stack, drains Job Queue fully, then pulls one Callback Queue item.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Practice &amp; What's Next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10698480" cy="2377440"/>
          </a:xfrm>
          <a:prstGeom prst="roundRect">
            <a:avLst>
              <a:gd name="adj" fmla="val 4615"/>
            </a:avLst>
          </a:prstGeom>
          <a:solidFill>
            <a:srgbClr val="252A52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3849624"/>
            <a:ext cx="137160" cy="13716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3749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trace event-loop output for tricky code snippets (write the explanation, not just the answer)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4507992"/>
            <a:ext cx="137160" cy="13716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4074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next: a mini project combining everything from async JavaScript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5166360"/>
            <a:ext cx="137160" cy="13716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50657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that: the Object-Oriented Programming module begins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1088</Words>
  <Application>Microsoft Office PowerPoint</Application>
  <PresentationFormat>Widescreen</PresentationFormat>
  <Paragraphs>174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Happy</cp:lastModifiedBy>
  <cp:revision>4</cp:revision>
  <dcterms:created xsi:type="dcterms:W3CDTF">2026-07-16T09:37:35Z</dcterms:created>
  <dcterms:modified xsi:type="dcterms:W3CDTF">2026-07-23T09:13:37Z</dcterms:modified>
</cp:coreProperties>
</file>